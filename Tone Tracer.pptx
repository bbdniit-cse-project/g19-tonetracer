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 Bold" charset="1" panose="020B0704020202020204"/>
      <p:regular r:id="rId17"/>
    </p:embeddedFont>
    <p:embeddedFont>
      <p:font typeface="Times New Roman Bold" charset="1" panose="02020803070505020304"/>
      <p:regular r:id="rId18"/>
    </p:embeddedFont>
    <p:embeddedFont>
      <p:font typeface="Roboto" charset="1" panose="02000000000000000000"/>
      <p:regular r:id="rId19"/>
    </p:embeddedFont>
    <p:embeddedFont>
      <p:font typeface="Roboto Bold" charset="1" panose="02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Relationship Id="rId5" Target="../media/image19.png" Type="http://schemas.openxmlformats.org/officeDocument/2006/relationships/image"/><Relationship Id="rId6" Target="../media/image2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74397" y="6088891"/>
            <a:ext cx="2339207" cy="2747353"/>
            <a:chOff x="0" y="0"/>
            <a:chExt cx="3118943" cy="36631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18993" cy="3663188"/>
            </a:xfrm>
            <a:custGeom>
              <a:avLst/>
              <a:gdLst/>
              <a:ahLst/>
              <a:cxnLst/>
              <a:rect r="r" b="b" t="t" l="l"/>
              <a:pathLst>
                <a:path h="3663188" w="3118993">
                  <a:moveTo>
                    <a:pt x="0" y="0"/>
                  </a:moveTo>
                  <a:lnTo>
                    <a:pt x="3118993" y="0"/>
                  </a:lnTo>
                  <a:lnTo>
                    <a:pt x="3118993" y="3663188"/>
                  </a:lnTo>
                  <a:lnTo>
                    <a:pt x="0" y="36631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98142" y="-21640"/>
            <a:ext cx="17891716" cy="1595056"/>
          </a:xfrm>
          <a:custGeom>
            <a:avLst/>
            <a:gdLst/>
            <a:ahLst/>
            <a:cxnLst/>
            <a:rect r="r" b="b" t="t" l="l"/>
            <a:pathLst>
              <a:path h="1595056" w="17891716">
                <a:moveTo>
                  <a:pt x="0" y="0"/>
                </a:moveTo>
                <a:lnTo>
                  <a:pt x="17891716" y="0"/>
                </a:lnTo>
                <a:lnTo>
                  <a:pt x="17891716" y="1595056"/>
                </a:lnTo>
                <a:lnTo>
                  <a:pt x="0" y="15950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218864" y="9043278"/>
            <a:ext cx="11850273" cy="1007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96"/>
              </a:lnSpc>
            </a:pPr>
            <a:r>
              <a:rPr lang="en-US" sz="324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Babu Banarasi Das Northern India Institute of Technology, Lucknow, Uttar Pradesh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7650" y="375038"/>
            <a:ext cx="15412701" cy="9860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09"/>
              </a:lnSpc>
            </a:pPr>
            <a:r>
              <a:rPr lang="en-US" sz="5998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Tone Tracer: Decoding the Hidden Meaning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96284" y="1613122"/>
            <a:ext cx="17891716" cy="4407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70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 project submitted in partial fulﬁllment of the requirements for the degree of Bachelor of Technology in Computer Science &amp; Engineering</a:t>
            </a:r>
          </a:p>
          <a:p>
            <a:pPr algn="ctr">
              <a:lnSpc>
                <a:spcPts val="3170"/>
              </a:lnSpc>
            </a:pPr>
          </a:p>
          <a:p>
            <a:pPr algn="ctr">
              <a:lnSpc>
                <a:spcPts val="3170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By- Anshika Mishra (2200560100023)</a:t>
            </a:r>
          </a:p>
          <a:p>
            <a:pPr algn="ctr">
              <a:lnSpc>
                <a:spcPts val="3170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Ishaan Tripathi (2200560100052)</a:t>
            </a:r>
          </a:p>
          <a:p>
            <a:pPr algn="ctr">
              <a:lnSpc>
                <a:spcPts val="3170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Riddhisha Srivastava (2200560100091)</a:t>
            </a:r>
          </a:p>
          <a:p>
            <a:pPr algn="ctr">
              <a:lnSpc>
                <a:spcPts val="3170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Sachin Tripathi (2200560100097)</a:t>
            </a:r>
          </a:p>
          <a:p>
            <a:pPr algn="ctr">
              <a:lnSpc>
                <a:spcPts val="3170"/>
              </a:lnSpc>
            </a:pPr>
          </a:p>
          <a:p>
            <a:pPr algn="ctr">
              <a:lnSpc>
                <a:spcPts val="3169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Under the Supervision of:</a:t>
            </a:r>
          </a:p>
          <a:p>
            <a:pPr algn="ctr">
              <a:lnSpc>
                <a:spcPts val="3170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Prof. Dr. Anurag Shrivastava (Head of Dept.)</a:t>
            </a:r>
          </a:p>
          <a:p>
            <a:pPr algn="ctr">
              <a:lnSpc>
                <a:spcPts val="3170"/>
              </a:lnSpc>
            </a:pPr>
            <a:r>
              <a:rPr lang="en-US" sz="2499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8" y="1315939"/>
            <a:ext cx="8979644" cy="96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sz="5599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The Challenge of Subtext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7" y="2646164"/>
            <a:ext cx="5605224" cy="579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0"/>
              </a:lnSpc>
            </a:pPr>
            <a:r>
              <a:rPr lang="en-US" sz="3200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Why Sarcasm is Hard for AI?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2238" y="3712220"/>
            <a:ext cx="9505355" cy="195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5"/>
              </a:lnSpc>
            </a:pPr>
            <a:r>
              <a:rPr lang="en-US" sz="2499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Sarcasm represents one of the most challenging problems in natural language understanding. It uses words that convey the </a:t>
            </a:r>
            <a:r>
              <a:rPr lang="en-US" sz="2499" b="true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opposite of their intended meaning</a:t>
            </a:r>
            <a:r>
              <a:rPr lang="en-US" sz="2499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, relying heavily on context, tone, and implicit social cues that humans instinctively recognize.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7" y="5974634"/>
            <a:ext cx="9505355" cy="1957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5"/>
              </a:lnSpc>
            </a:pPr>
            <a:r>
              <a:rPr lang="en-US" sz="2499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Current sentiment analysis systems frequently misinterpret sarcastic comments, leading to significant errors in data interpretation across social media monitoring, customer feedback analysis, and opinion mining applications.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194108" y="3497391"/>
            <a:ext cx="6115812" cy="2172462"/>
          </a:xfrm>
          <a:custGeom>
            <a:avLst/>
            <a:gdLst/>
            <a:ahLst/>
            <a:cxnLst/>
            <a:rect r="r" b="b" t="t" l="l"/>
            <a:pathLst>
              <a:path h="2172462" w="6115812">
                <a:moveTo>
                  <a:pt x="0" y="0"/>
                </a:moveTo>
                <a:lnTo>
                  <a:pt x="6115812" y="0"/>
                </a:lnTo>
                <a:lnTo>
                  <a:pt x="6115812" y="2172462"/>
                </a:lnTo>
                <a:lnTo>
                  <a:pt x="0" y="2172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491912" y="3788420"/>
            <a:ext cx="3544044" cy="48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The Problem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91912" y="4314838"/>
            <a:ext cx="5520184" cy="100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AI struggles to detect when words mean the opposite of what they say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194108" y="5759805"/>
            <a:ext cx="6115812" cy="2172462"/>
          </a:xfrm>
          <a:custGeom>
            <a:avLst/>
            <a:gdLst/>
            <a:ahLst/>
            <a:cxnLst/>
            <a:rect r="r" b="b" t="t" l="l"/>
            <a:pathLst>
              <a:path h="2172462" w="6115812">
                <a:moveTo>
                  <a:pt x="0" y="0"/>
                </a:moveTo>
                <a:lnTo>
                  <a:pt x="6115812" y="0"/>
                </a:lnTo>
                <a:lnTo>
                  <a:pt x="6115812" y="2172462"/>
                </a:lnTo>
                <a:lnTo>
                  <a:pt x="0" y="2172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491912" y="6050834"/>
            <a:ext cx="3544044" cy="487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6"/>
              </a:lnSpc>
            </a:pPr>
            <a:r>
              <a:rPr lang="en-US" sz="2750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The Goal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91912" y="6579472"/>
            <a:ext cx="5520184" cy="1002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Build a system that decodes hidden meanings accurately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2029569"/>
            <a:ext cx="15835177" cy="966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4"/>
              </a:lnSpc>
            </a:pPr>
            <a:r>
              <a:rPr lang="en-US" sz="5599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The Toolkit: Building Blocks for Tone Tracing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3596879"/>
            <a:ext cx="708755" cy="708755"/>
            <a:chOff x="0" y="0"/>
            <a:chExt cx="945007" cy="94500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992238" y="4602807"/>
            <a:ext cx="3996593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Python &amp; Data Science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2238" y="5120580"/>
            <a:ext cx="5198269" cy="227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Our primary development environment, leveraging powerful libraries like NumPy, Pandas, and scikit-learn for data manipulation and algorithm implementation.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544866" y="3596879"/>
            <a:ext cx="708755" cy="708755"/>
            <a:chOff x="0" y="0"/>
            <a:chExt cx="945007" cy="94500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544866" y="4602807"/>
            <a:ext cx="5047556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Natural Language 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544866" y="5120580"/>
            <a:ext cx="5198269" cy="185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Advanced NLP techniques for text preprocessing, tokenization, feature extraction, and semantic analysis to understand linguistic patterns.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097494" y="3596879"/>
            <a:ext cx="708755" cy="708755"/>
            <a:chOff x="0" y="0"/>
            <a:chExt cx="945007" cy="94500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45007" cy="945007"/>
            </a:xfrm>
            <a:custGeom>
              <a:avLst/>
              <a:gdLst/>
              <a:ahLst/>
              <a:cxnLst/>
              <a:rect r="r" b="b" t="t" l="l"/>
              <a:pathLst>
                <a:path h="945007" w="945007">
                  <a:moveTo>
                    <a:pt x="0" y="0"/>
                  </a:moveTo>
                  <a:lnTo>
                    <a:pt x="945007" y="0"/>
                  </a:lnTo>
                  <a:lnTo>
                    <a:pt x="945007" y="945007"/>
                  </a:lnTo>
                  <a:lnTo>
                    <a:pt x="0" y="9450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097494" y="4602807"/>
            <a:ext cx="5372893" cy="477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8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Machine Learning Frameworks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97494" y="5120580"/>
            <a:ext cx="5198269" cy="1853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Keras, TensorFlow, and PyTorch for building and training sophisticated deep learning models capable of learning complex patterns.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846665"/>
            <a:ext cx="16303526" cy="484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 b="true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Converting smart remarks into smart insights through the power of NLP and ML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8694" y="647998"/>
            <a:ext cx="8874903" cy="981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6"/>
              </a:lnSpc>
            </a:pPr>
            <a:r>
              <a:rPr lang="en-US" sz="5599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Our Structured Approach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8694" y="2171747"/>
            <a:ext cx="7982396" cy="62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8"/>
              </a:lnSpc>
            </a:pPr>
            <a:r>
              <a:rPr lang="en-US" b="true" sz="3499" u="sng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Six Key Phases to Build Tone Tracer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8694" y="3246239"/>
            <a:ext cx="8032432" cy="28575"/>
            <a:chOff x="0" y="0"/>
            <a:chExt cx="10709909" cy="381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709910" cy="38100"/>
            </a:xfrm>
            <a:custGeom>
              <a:avLst/>
              <a:gdLst/>
              <a:ahLst/>
              <a:cxnLst/>
              <a:rect r="r" b="b" t="t" l="l"/>
              <a:pathLst>
                <a:path h="38100" w="10709910">
                  <a:moveTo>
                    <a:pt x="0" y="0"/>
                  </a:moveTo>
                  <a:lnTo>
                    <a:pt x="10709910" y="0"/>
                  </a:lnTo>
                  <a:lnTo>
                    <a:pt x="1070991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3" r="0" b="-5553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78694" y="3359944"/>
            <a:ext cx="5964976" cy="4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Data Acquisition &amp; Preprocessing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8694" y="3839021"/>
            <a:ext cx="8032402" cy="98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Gathering labeled datasets and cleaning text through tokenization, stop word removal, and normalization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76755" y="3246239"/>
            <a:ext cx="8032528" cy="28575"/>
            <a:chOff x="0" y="0"/>
            <a:chExt cx="10710037" cy="381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710037" cy="38100"/>
            </a:xfrm>
            <a:custGeom>
              <a:avLst/>
              <a:gdLst/>
              <a:ahLst/>
              <a:cxnLst/>
              <a:rect r="r" b="b" t="t" l="l"/>
              <a:pathLst>
                <a:path h="38100" w="10710037">
                  <a:moveTo>
                    <a:pt x="0" y="0"/>
                  </a:moveTo>
                  <a:lnTo>
                    <a:pt x="10710037" y="0"/>
                  </a:lnTo>
                  <a:lnTo>
                    <a:pt x="1071003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4" r="0" b="-5554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276755" y="3359944"/>
            <a:ext cx="3899893" cy="4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Feature Engineering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276755" y="3839021"/>
            <a:ext cx="8032551" cy="98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Extracting linguistic cues and generating word embeddings to capture semantic relationships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78694" y="5668416"/>
            <a:ext cx="8032432" cy="28575"/>
            <a:chOff x="0" y="0"/>
            <a:chExt cx="10709909" cy="381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709910" cy="38100"/>
            </a:xfrm>
            <a:custGeom>
              <a:avLst/>
              <a:gdLst/>
              <a:ahLst/>
              <a:cxnLst/>
              <a:rect r="r" b="b" t="t" l="l"/>
              <a:pathLst>
                <a:path h="38100" w="10709910">
                  <a:moveTo>
                    <a:pt x="0" y="0"/>
                  </a:moveTo>
                  <a:lnTo>
                    <a:pt x="10709910" y="0"/>
                  </a:lnTo>
                  <a:lnTo>
                    <a:pt x="1070991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3" r="0" b="-5553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78694" y="5808761"/>
            <a:ext cx="4930681" cy="4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Model Selection &amp; Training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8694" y="6287840"/>
            <a:ext cx="8032402" cy="98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Experimenting with architectures from linear models to Transformer-based classifiers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276755" y="5695058"/>
            <a:ext cx="8032528" cy="28575"/>
            <a:chOff x="0" y="0"/>
            <a:chExt cx="10710037" cy="381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0710037" cy="38100"/>
            </a:xfrm>
            <a:custGeom>
              <a:avLst/>
              <a:gdLst/>
              <a:ahLst/>
              <a:cxnLst/>
              <a:rect r="r" b="b" t="t" l="l"/>
              <a:pathLst>
                <a:path h="38100" w="10710037">
                  <a:moveTo>
                    <a:pt x="0" y="0"/>
                  </a:moveTo>
                  <a:lnTo>
                    <a:pt x="10710037" y="0"/>
                  </a:lnTo>
                  <a:lnTo>
                    <a:pt x="1071003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4" r="0" b="-5554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276755" y="5808761"/>
            <a:ext cx="4650292" cy="4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Evaluation &amp; Optimization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276755" y="6287840"/>
            <a:ext cx="8032551" cy="989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Testing performance metrics and fine-tuning for maximum accuracy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78694" y="8090744"/>
            <a:ext cx="8032432" cy="28575"/>
            <a:chOff x="0" y="0"/>
            <a:chExt cx="10709909" cy="381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709910" cy="38100"/>
            </a:xfrm>
            <a:custGeom>
              <a:avLst/>
              <a:gdLst/>
              <a:ahLst/>
              <a:cxnLst/>
              <a:rect r="r" b="b" t="t" l="l"/>
              <a:pathLst>
                <a:path h="38100" w="10709910">
                  <a:moveTo>
                    <a:pt x="0" y="0"/>
                  </a:moveTo>
                  <a:lnTo>
                    <a:pt x="10709910" y="0"/>
                  </a:lnTo>
                  <a:lnTo>
                    <a:pt x="1070991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3" r="0" b="-5553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78694" y="8257580"/>
            <a:ext cx="4437452" cy="4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Validation &amp; Testing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78694" y="8736657"/>
            <a:ext cx="8032402" cy="53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Rigorous testing on unseen data to ensure generalization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76755" y="8090744"/>
            <a:ext cx="8032528" cy="28575"/>
            <a:chOff x="0" y="0"/>
            <a:chExt cx="10710037" cy="381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0710037" cy="38100"/>
            </a:xfrm>
            <a:custGeom>
              <a:avLst/>
              <a:gdLst/>
              <a:ahLst/>
              <a:cxnLst/>
              <a:rect r="r" b="b" t="t" l="l"/>
              <a:pathLst>
                <a:path h="38100" w="10710037">
                  <a:moveTo>
                    <a:pt x="0" y="0"/>
                  </a:moveTo>
                  <a:lnTo>
                    <a:pt x="10710037" y="0"/>
                  </a:lnTo>
                  <a:lnTo>
                    <a:pt x="1071003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4" r="0" b="-5554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276755" y="8257580"/>
            <a:ext cx="4650292" cy="4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Deployment &amp; Integration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276755" y="8736657"/>
            <a:ext cx="8032551" cy="532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Preparing the system for real-world applications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78694" y="3246239"/>
            <a:ext cx="8032432" cy="28575"/>
            <a:chOff x="0" y="0"/>
            <a:chExt cx="10709909" cy="381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709910" cy="38100"/>
            </a:xfrm>
            <a:custGeom>
              <a:avLst/>
              <a:gdLst/>
              <a:ahLst/>
              <a:cxnLst/>
              <a:rect r="r" b="b" t="t" l="l"/>
              <a:pathLst>
                <a:path h="38100" w="10709910">
                  <a:moveTo>
                    <a:pt x="0" y="0"/>
                  </a:moveTo>
                  <a:lnTo>
                    <a:pt x="10709910" y="0"/>
                  </a:lnTo>
                  <a:lnTo>
                    <a:pt x="1070991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3" r="0" b="-5553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276755" y="3246239"/>
            <a:ext cx="8032528" cy="28575"/>
            <a:chOff x="0" y="0"/>
            <a:chExt cx="10710037" cy="381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710037" cy="38100"/>
            </a:xfrm>
            <a:custGeom>
              <a:avLst/>
              <a:gdLst/>
              <a:ahLst/>
              <a:cxnLst/>
              <a:rect r="r" b="b" t="t" l="l"/>
              <a:pathLst>
                <a:path h="38100" w="10710037">
                  <a:moveTo>
                    <a:pt x="0" y="0"/>
                  </a:moveTo>
                  <a:lnTo>
                    <a:pt x="10710037" y="0"/>
                  </a:lnTo>
                  <a:lnTo>
                    <a:pt x="1071003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4" r="0" b="-5554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8694" y="5668416"/>
            <a:ext cx="8032432" cy="28575"/>
            <a:chOff x="0" y="0"/>
            <a:chExt cx="10709909" cy="3810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10709910" cy="38100"/>
            </a:xfrm>
            <a:custGeom>
              <a:avLst/>
              <a:gdLst/>
              <a:ahLst/>
              <a:cxnLst/>
              <a:rect r="r" b="b" t="t" l="l"/>
              <a:pathLst>
                <a:path h="38100" w="10709910">
                  <a:moveTo>
                    <a:pt x="0" y="0"/>
                  </a:moveTo>
                  <a:lnTo>
                    <a:pt x="10709910" y="0"/>
                  </a:lnTo>
                  <a:lnTo>
                    <a:pt x="1070991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3" r="0" b="-555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76755" y="5695058"/>
            <a:ext cx="8032528" cy="28575"/>
            <a:chOff x="0" y="0"/>
            <a:chExt cx="10710037" cy="381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710037" cy="38100"/>
            </a:xfrm>
            <a:custGeom>
              <a:avLst/>
              <a:gdLst/>
              <a:ahLst/>
              <a:cxnLst/>
              <a:rect r="r" b="b" t="t" l="l"/>
              <a:pathLst>
                <a:path h="38100" w="10710037">
                  <a:moveTo>
                    <a:pt x="0" y="0"/>
                  </a:moveTo>
                  <a:lnTo>
                    <a:pt x="10710037" y="0"/>
                  </a:lnTo>
                  <a:lnTo>
                    <a:pt x="1071003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4" r="0" b="-555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78694" y="8090744"/>
            <a:ext cx="8032432" cy="28575"/>
            <a:chOff x="0" y="0"/>
            <a:chExt cx="10709909" cy="3810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10709910" cy="38100"/>
            </a:xfrm>
            <a:custGeom>
              <a:avLst/>
              <a:gdLst/>
              <a:ahLst/>
              <a:cxnLst/>
              <a:rect r="r" b="b" t="t" l="l"/>
              <a:pathLst>
                <a:path h="38100" w="10709910">
                  <a:moveTo>
                    <a:pt x="0" y="0"/>
                  </a:moveTo>
                  <a:lnTo>
                    <a:pt x="10709910" y="0"/>
                  </a:lnTo>
                  <a:lnTo>
                    <a:pt x="10709910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3" r="0" b="-5553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276755" y="8090744"/>
            <a:ext cx="8032528" cy="28575"/>
            <a:chOff x="0" y="0"/>
            <a:chExt cx="10710037" cy="381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710037" cy="38100"/>
            </a:xfrm>
            <a:custGeom>
              <a:avLst/>
              <a:gdLst/>
              <a:ahLst/>
              <a:cxnLst/>
              <a:rect r="r" b="b" t="t" l="l"/>
              <a:pathLst>
                <a:path h="38100" w="10710037">
                  <a:moveTo>
                    <a:pt x="0" y="0"/>
                  </a:moveTo>
                  <a:lnTo>
                    <a:pt x="10710037" y="0"/>
                  </a:lnTo>
                  <a:lnTo>
                    <a:pt x="10710037" y="38100"/>
                  </a:lnTo>
                  <a:lnTo>
                    <a:pt x="0" y="3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5554" r="0" b="-5554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5942654" y="1708307"/>
            <a:ext cx="6217256" cy="8190449"/>
          </a:xfrm>
          <a:custGeom>
            <a:avLst/>
            <a:gdLst/>
            <a:ahLst/>
            <a:cxnLst/>
            <a:rect r="r" b="b" t="t" l="l"/>
            <a:pathLst>
              <a:path h="8190449" w="6217256">
                <a:moveTo>
                  <a:pt x="0" y="0"/>
                </a:moveTo>
                <a:lnTo>
                  <a:pt x="6217256" y="0"/>
                </a:lnTo>
                <a:lnTo>
                  <a:pt x="6217256" y="8190449"/>
                </a:lnTo>
                <a:lnTo>
                  <a:pt x="0" y="81904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83" t="0" r="-876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78694" y="667048"/>
            <a:ext cx="13371686" cy="1595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0"/>
              </a:lnSpc>
            </a:pPr>
            <a:r>
              <a:rPr lang="en-US" sz="5000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 Con</a:t>
            </a:r>
            <a:r>
              <a:rPr lang="en-US" sz="5000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text-Aware vs Context-Agnostic Models</a:t>
            </a:r>
          </a:p>
          <a:p>
            <a:pPr algn="l">
              <a:lnSpc>
                <a:spcPts val="6264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665112"/>
            <a:ext cx="11490653" cy="981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5599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Tone Tracer System Architecture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1960810"/>
            <a:ext cx="8151780" cy="907256"/>
            <a:chOff x="0" y="0"/>
            <a:chExt cx="10869040" cy="120967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0869041" cy="1209675"/>
            </a:xfrm>
            <a:custGeom>
              <a:avLst/>
              <a:gdLst/>
              <a:ahLst/>
              <a:cxnLst/>
              <a:rect r="r" b="b" t="t" l="l"/>
              <a:pathLst>
                <a:path h="1209675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209675"/>
                  </a:lnTo>
                  <a:lnTo>
                    <a:pt x="0" y="120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66" t="0" r="-166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219051" y="3018681"/>
            <a:ext cx="2835325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Input Layer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9051" y="3413820"/>
            <a:ext cx="7698135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User comment or text sample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0" y="1960810"/>
            <a:ext cx="8151780" cy="907256"/>
            <a:chOff x="0" y="0"/>
            <a:chExt cx="10869040" cy="1209675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0869041" cy="1209675"/>
            </a:xfrm>
            <a:custGeom>
              <a:avLst/>
              <a:gdLst/>
              <a:ahLst/>
              <a:cxnLst/>
              <a:rect r="r" b="b" t="t" l="l"/>
              <a:pathLst>
                <a:path h="1209675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209675"/>
                  </a:lnTo>
                  <a:lnTo>
                    <a:pt x="0" y="120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6" t="0" r="-166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370814" y="3018681"/>
            <a:ext cx="2835325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Preprocessing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0814" y="3413820"/>
            <a:ext cx="7698135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Text cleaning &amp; feature extraction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92238" y="4152305"/>
            <a:ext cx="8151780" cy="907256"/>
            <a:chOff x="0" y="0"/>
            <a:chExt cx="10869040" cy="1209675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0869041" cy="1209675"/>
            </a:xfrm>
            <a:custGeom>
              <a:avLst/>
              <a:gdLst/>
              <a:ahLst/>
              <a:cxnLst/>
              <a:rect r="r" b="b" t="t" l="l"/>
              <a:pathLst>
                <a:path h="1209675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209675"/>
                  </a:lnTo>
                  <a:lnTo>
                    <a:pt x="0" y="120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66" t="0" r="-166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19051" y="5210175"/>
            <a:ext cx="2835325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ML Classifier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19051" y="5605314"/>
            <a:ext cx="7698135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Trained deep learning model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9144000" y="4152305"/>
            <a:ext cx="8151780" cy="907256"/>
            <a:chOff x="0" y="0"/>
            <a:chExt cx="10869040" cy="1209675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0869041" cy="1209675"/>
            </a:xfrm>
            <a:custGeom>
              <a:avLst/>
              <a:gdLst/>
              <a:ahLst/>
              <a:cxnLst/>
              <a:rect r="r" b="b" t="t" l="l"/>
              <a:pathLst>
                <a:path h="1209675" w="10869041">
                  <a:moveTo>
                    <a:pt x="0" y="0"/>
                  </a:moveTo>
                  <a:lnTo>
                    <a:pt x="10869041" y="0"/>
                  </a:lnTo>
                  <a:lnTo>
                    <a:pt x="10869041" y="1209675"/>
                  </a:lnTo>
                  <a:lnTo>
                    <a:pt x="0" y="12096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6" t="0" r="-166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370814" y="5210175"/>
            <a:ext cx="2835325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9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Output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70814" y="5605314"/>
            <a:ext cx="7698135" cy="537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Classification + confidence score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2238" y="6712301"/>
            <a:ext cx="16303561" cy="37815"/>
            <a:chOff x="0" y="0"/>
            <a:chExt cx="21738082" cy="504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738082" cy="50419"/>
            </a:xfrm>
            <a:custGeom>
              <a:avLst/>
              <a:gdLst/>
              <a:ahLst/>
              <a:cxnLst/>
              <a:rect r="r" b="b" t="t" l="l"/>
              <a:pathLst>
                <a:path h="50419" w="21738082">
                  <a:moveTo>
                    <a:pt x="0" y="0"/>
                  </a:moveTo>
                  <a:lnTo>
                    <a:pt x="21738082" y="0"/>
                  </a:lnTo>
                  <a:lnTo>
                    <a:pt x="21738082" y="50419"/>
                  </a:lnTo>
                  <a:lnTo>
                    <a:pt x="0" y="50419"/>
                  </a:lnTo>
                  <a:close/>
                </a:path>
              </a:pathLst>
            </a:custGeom>
            <a:solidFill>
              <a:srgbClr val="384653">
                <a:alpha val="5882"/>
              </a:srgbClr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92237" y="6995071"/>
            <a:ext cx="6010749" cy="574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38"/>
              </a:lnSpc>
            </a:pPr>
            <a:r>
              <a:rPr lang="en-US" sz="3200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Expected Performance Targets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238" y="7869288"/>
            <a:ext cx="500940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C3643D"/>
                </a:solidFill>
                <a:latin typeface="Roboto Bold"/>
                <a:ea typeface="Roboto Bold"/>
                <a:cs typeface="Roboto Bold"/>
                <a:sym typeface="Roboto Bold"/>
              </a:rPr>
              <a:t>Target Accuracy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2238" y="8432601"/>
            <a:ext cx="5009406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Aiming for </a:t>
            </a:r>
            <a:r>
              <a:rPr lang="en-US" sz="2400" b="true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&gt;85%</a:t>
            </a: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in binary classification tasks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64511" y="7869288"/>
            <a:ext cx="5009406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C3643D"/>
                </a:solidFill>
                <a:latin typeface="Roboto Bold"/>
                <a:ea typeface="Roboto Bold"/>
                <a:cs typeface="Roboto Bold"/>
                <a:sym typeface="Roboto Bold"/>
              </a:rPr>
              <a:t>Precision Focus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64511" y="8432601"/>
            <a:ext cx="5009406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Minimizing false positives to ensure reliable results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36785" y="7869288"/>
            <a:ext cx="5177879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799" b="true">
                <a:solidFill>
                  <a:srgbClr val="C3643D"/>
                </a:solidFill>
                <a:latin typeface="Roboto Bold"/>
                <a:ea typeface="Roboto Bold"/>
                <a:cs typeface="Roboto Bold"/>
                <a:sym typeface="Roboto Bold"/>
              </a:rPr>
              <a:t>Real-time Processing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136785" y="8432601"/>
            <a:ext cx="5177879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Fast inference for practical applications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5509286" y="1705603"/>
            <a:ext cx="7657604" cy="8200914"/>
          </a:xfrm>
          <a:custGeom>
            <a:avLst/>
            <a:gdLst/>
            <a:ahLst/>
            <a:cxnLst/>
            <a:rect r="r" b="b" t="t" l="l"/>
            <a:pathLst>
              <a:path h="8200914" w="7657604">
                <a:moveTo>
                  <a:pt x="0" y="0"/>
                </a:moveTo>
                <a:lnTo>
                  <a:pt x="7657603" y="0"/>
                </a:lnTo>
                <a:lnTo>
                  <a:pt x="7657603" y="8200914"/>
                </a:lnTo>
                <a:lnTo>
                  <a:pt x="0" y="82009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92237" y="684162"/>
            <a:ext cx="10386343" cy="831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17"/>
              </a:lnSpc>
            </a:pPr>
            <a:r>
              <a:rPr lang="en-US" sz="5200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Tone Tracer System Architecture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770781"/>
            <a:ext cx="11167070" cy="981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7"/>
              </a:lnSpc>
            </a:pPr>
            <a:r>
              <a:rPr lang="en-US" sz="5599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Current Progress &amp; Roadblocks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238" y="2183458"/>
            <a:ext cx="6037772" cy="56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2"/>
              </a:lnSpc>
            </a:pPr>
            <a:r>
              <a:rPr lang="en-US" sz="3200" b="true">
                <a:solidFill>
                  <a:srgbClr val="64B8CE"/>
                </a:solidFill>
                <a:latin typeface="Arimo Bold"/>
                <a:ea typeface="Arimo Bold"/>
                <a:cs typeface="Arimo Bold"/>
                <a:sym typeface="Arimo Bold"/>
              </a:rPr>
              <a:t>✓</a:t>
            </a:r>
            <a:r>
              <a:rPr lang="en-US" sz="3200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 Progress Achieved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3685074"/>
            <a:ext cx="120395" cy="120396"/>
            <a:chOff x="0" y="0"/>
            <a:chExt cx="160527" cy="160528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60528" cy="160528"/>
            </a:xfrm>
            <a:custGeom>
              <a:avLst/>
              <a:gdLst/>
              <a:ahLst/>
              <a:cxnLst/>
              <a:rect r="r" b="b" t="t" l="l"/>
              <a:pathLst>
                <a:path h="160528" w="160528">
                  <a:moveTo>
                    <a:pt x="0" y="0"/>
                  </a:moveTo>
                  <a:lnTo>
                    <a:pt x="160528" y="0"/>
                  </a:lnTo>
                  <a:lnTo>
                    <a:pt x="160528" y="160528"/>
                  </a:lnTo>
                  <a:lnTo>
                    <a:pt x="0" y="160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53591" y="3348738"/>
            <a:ext cx="7496472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Successfully configured Python development environment with all required NLP and ML libraries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5321572"/>
            <a:ext cx="120395" cy="120396"/>
            <a:chOff x="0" y="0"/>
            <a:chExt cx="160527" cy="160528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60528" cy="160528"/>
            </a:xfrm>
            <a:custGeom>
              <a:avLst/>
              <a:gdLst/>
              <a:ahLst/>
              <a:cxnLst/>
              <a:rect r="r" b="b" t="t" l="l"/>
              <a:pathLst>
                <a:path h="160528" w="160528">
                  <a:moveTo>
                    <a:pt x="0" y="0"/>
                  </a:moveTo>
                  <a:lnTo>
                    <a:pt x="160528" y="0"/>
                  </a:lnTo>
                  <a:lnTo>
                    <a:pt x="160528" y="160528"/>
                  </a:lnTo>
                  <a:lnTo>
                    <a:pt x="0" y="160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53591" y="4972050"/>
            <a:ext cx="7496472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Completed initial data exploration and collection from multiple sarcasm-labeled datasets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47460" y="2183458"/>
            <a:ext cx="3615035" cy="562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2"/>
              </a:lnSpc>
            </a:pPr>
            <a:r>
              <a:rPr lang="en-US" sz="3200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⚠</a:t>
            </a:r>
            <a:r>
              <a:rPr lang="en-US" sz="3200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 Key Challenges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9433172" y="2977754"/>
            <a:ext cx="7886414" cy="2165776"/>
          </a:xfrm>
          <a:custGeom>
            <a:avLst/>
            <a:gdLst/>
            <a:ahLst/>
            <a:cxnLst/>
            <a:rect r="r" b="b" t="t" l="l"/>
            <a:pathLst>
              <a:path h="2165776" w="7886414">
                <a:moveTo>
                  <a:pt x="0" y="0"/>
                </a:moveTo>
                <a:lnTo>
                  <a:pt x="7886414" y="0"/>
                </a:lnTo>
                <a:lnTo>
                  <a:pt x="7886414" y="2165776"/>
                </a:lnTo>
                <a:lnTo>
                  <a:pt x="0" y="21657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716989" y="3185369"/>
            <a:ext cx="3659386" cy="49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5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Context Dependency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6989" y="3707606"/>
            <a:ext cx="7318772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Handling sarcasm that requires external knowledge or cultural understanding beyond the text itself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447460" y="5657850"/>
            <a:ext cx="7886414" cy="2189068"/>
          </a:xfrm>
          <a:custGeom>
            <a:avLst/>
            <a:gdLst/>
            <a:ahLst/>
            <a:cxnLst/>
            <a:rect r="r" b="b" t="t" l="l"/>
            <a:pathLst>
              <a:path h="2189068" w="7886414">
                <a:moveTo>
                  <a:pt x="0" y="0"/>
                </a:moveTo>
                <a:lnTo>
                  <a:pt x="7886414" y="0"/>
                </a:lnTo>
                <a:lnTo>
                  <a:pt x="7886414" y="2189068"/>
                </a:lnTo>
                <a:lnTo>
                  <a:pt x="0" y="21890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9716989" y="5890260"/>
            <a:ext cx="3012430" cy="498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5"/>
              </a:lnSpc>
            </a:pPr>
            <a:r>
              <a:rPr lang="en-US" sz="27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Data Quality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31275" y="6408197"/>
            <a:ext cx="7318772" cy="99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Ensuring consistent labeling and managing noise in crowdsourced datasets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6738259" y="1710292"/>
            <a:ext cx="4871752" cy="8576708"/>
          </a:xfrm>
          <a:custGeom>
            <a:avLst/>
            <a:gdLst/>
            <a:ahLst/>
            <a:cxnLst/>
            <a:rect r="r" b="b" t="t" l="l"/>
            <a:pathLst>
              <a:path h="8576708" w="4871752">
                <a:moveTo>
                  <a:pt x="0" y="0"/>
                </a:moveTo>
                <a:lnTo>
                  <a:pt x="4871752" y="0"/>
                </a:lnTo>
                <a:lnTo>
                  <a:pt x="4871752" y="8576708"/>
                </a:lnTo>
                <a:lnTo>
                  <a:pt x="0" y="8576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92237" y="789831"/>
            <a:ext cx="10162952" cy="1613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65"/>
              </a:lnSpc>
            </a:pPr>
            <a:r>
              <a:rPr lang="en-US" sz="5000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 Expe</a:t>
            </a:r>
            <a:r>
              <a:rPr lang="en-US" sz="5000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rimental Evaluation Pipeline</a:t>
            </a:r>
          </a:p>
          <a:p>
            <a:pPr algn="l">
              <a:lnSpc>
                <a:spcPts val="6391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237" y="771525"/>
            <a:ext cx="6733877" cy="984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66"/>
              </a:lnSpc>
            </a:pPr>
            <a:r>
              <a:rPr lang="en-US" sz="5599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The Path Forward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92238" y="2419796"/>
            <a:ext cx="6733913" cy="6838534"/>
            <a:chOff x="0" y="0"/>
            <a:chExt cx="8978551" cy="9118045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8978519" cy="9118092"/>
            </a:xfrm>
            <a:custGeom>
              <a:avLst/>
              <a:gdLst/>
              <a:ahLst/>
              <a:cxnLst/>
              <a:rect r="r" b="b" t="t" l="l"/>
              <a:pathLst>
                <a:path h="9118092" w="8978519">
                  <a:moveTo>
                    <a:pt x="0" y="0"/>
                  </a:moveTo>
                  <a:lnTo>
                    <a:pt x="8978519" y="0"/>
                  </a:lnTo>
                  <a:lnTo>
                    <a:pt x="8978519" y="9118092"/>
                  </a:lnTo>
                  <a:lnTo>
                    <a:pt x="0" y="91180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0385" t="0" r="-40385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633966" y="2324546"/>
            <a:ext cx="7860654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0"/>
              </a:lnSpc>
            </a:pPr>
            <a:r>
              <a:rPr lang="en-US" sz="3500" b="true">
                <a:solidFill>
                  <a:srgbClr val="2E3C4E"/>
                </a:solidFill>
                <a:latin typeface="Arimo Bold"/>
                <a:ea typeface="Arimo Bold"/>
                <a:cs typeface="Arimo Bold"/>
                <a:sym typeface="Arimo Bold"/>
              </a:rPr>
              <a:t>Making AI Understand Human Intent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33966" y="3022550"/>
            <a:ext cx="8671172" cy="1446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The Tone Tracer project addresses a fundamental challenge in computational linguistics: teaching machines to understand when humans don't mean what they say.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33966" y="5188329"/>
            <a:ext cx="8671172" cy="1446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By combining sophisticated NLP techniques with advanced machine learning architectures, we're building a system that can decode the hidden layers of human communication.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633966" y="7354108"/>
            <a:ext cx="8671172" cy="1904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6"/>
              </a:lnSpc>
            </a:pPr>
            <a:r>
              <a:rPr lang="en-US" sz="2400" b="true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This isn't just about detecting sarcasm</a:t>
            </a:r>
            <a:r>
              <a:rPr lang="en-US" sz="24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— it's about fundamentally improving how AI systems interpret human language, leading to more accurate sentiment analysis, better human-computer interaction, and smarter automated systems.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1028700"/>
            <a:ext cx="16281220" cy="8229618"/>
          </a:xfrm>
          <a:custGeom>
            <a:avLst/>
            <a:gdLst/>
            <a:ahLst/>
            <a:cxnLst/>
            <a:rect r="r" b="b" t="t" l="l"/>
            <a:pathLst>
              <a:path h="8229618" w="16281220">
                <a:moveTo>
                  <a:pt x="0" y="0"/>
                </a:moveTo>
                <a:lnTo>
                  <a:pt x="16281220" y="0"/>
                </a:lnTo>
                <a:lnTo>
                  <a:pt x="16281220" y="8229618"/>
                </a:lnTo>
                <a:lnTo>
                  <a:pt x="0" y="8229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468679" y="4232274"/>
            <a:ext cx="11350641" cy="1670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499"/>
              </a:lnSpc>
            </a:pPr>
            <a:r>
              <a:rPr lang="en-US" sz="9999" b="true">
                <a:solidFill>
                  <a:srgbClr val="384653"/>
                </a:solidFill>
                <a:latin typeface="Arimo Bold"/>
                <a:ea typeface="Arimo Bold"/>
                <a:cs typeface="Arimo Bold"/>
                <a:sym typeface="Arimo Bold"/>
              </a:rPr>
              <a:t>THANK YOU!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DAG6dsELQM4</dc:identifier>
  <dcterms:modified xsi:type="dcterms:W3CDTF">2011-08-01T06:04:30Z</dcterms:modified>
  <cp:revision>1</cp:revision>
  <dc:title>Tone Tracer.pptx</dc:title>
</cp:coreProperties>
</file>